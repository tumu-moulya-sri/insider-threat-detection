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5" r:id="rId6"/>
    <p:sldId id="261" r:id="rId7"/>
    <p:sldId id="266" r:id="rId8"/>
    <p:sldId id="267" r:id="rId9"/>
    <p:sldId id="268"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27A8CC-C7EC-4CC8-B7ED-3A79898F0DCD}"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3124203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27A8CC-C7EC-4CC8-B7ED-3A79898F0DCD}"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701304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27A8CC-C7EC-4CC8-B7ED-3A79898F0DCD}"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1584941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E27A8CC-C7EC-4CC8-B7ED-3A79898F0DCD}" type="datetimeFigureOut">
              <a:rPr lang="en-IN" smtClean="0"/>
              <a:t>21-09-2026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3168034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6E27A8CC-C7EC-4CC8-B7ED-3A79898F0DCD}" type="datetimeFigureOut">
              <a:rPr lang="en-IN" smtClean="0"/>
              <a:t>21-09-2026</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3058530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6E27A8CC-C7EC-4CC8-B7ED-3A79898F0DCD}" type="datetimeFigureOut">
              <a:rPr lang="en-IN" smtClean="0"/>
              <a:t>21-09-2026</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105170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E27A8CC-C7EC-4CC8-B7ED-3A79898F0DCD}"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7385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E27A8CC-C7EC-4CC8-B7ED-3A79898F0DCD}" type="datetimeFigureOut">
              <a:rPr lang="en-IN" smtClean="0"/>
              <a:t>21-09-2026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585610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E27A8CC-C7EC-4CC8-B7ED-3A79898F0DCD}" type="datetimeFigureOut">
              <a:rPr lang="en-IN" smtClean="0"/>
              <a:t>21-09-2026</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976290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27A8CC-C7EC-4CC8-B7ED-3A79898F0DCD}"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595544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27A8CC-C7EC-4CC8-B7ED-3A79898F0DCD}"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56C892-7D7B-4CDD-A049-63C6E2205304}" type="slidenum">
              <a:rPr lang="en-IN" smtClean="0"/>
              <a:t>‹#›</a:t>
            </a:fld>
            <a:endParaRPr lang="en-IN"/>
          </a:p>
        </p:txBody>
      </p:sp>
    </p:spTree>
    <p:extLst>
      <p:ext uri="{BB962C8B-B14F-4D97-AF65-F5344CB8AC3E}">
        <p14:creationId xmlns:p14="http://schemas.microsoft.com/office/powerpoint/2010/main" val="3760253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6E27A8CC-C7EC-4CC8-B7ED-3A79898F0DCD}" type="datetimeFigureOut">
              <a:rPr lang="en-IN" smtClean="0"/>
              <a:t>21-09-2026</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6F56C892-7D7B-4CDD-A049-63C6E2205304}" type="slidenum">
              <a:rPr lang="en-IN" smtClean="0"/>
              <a:t>‹#›</a:t>
            </a:fld>
            <a:endParaRPr lang="en-IN"/>
          </a:p>
        </p:txBody>
      </p:sp>
    </p:spTree>
    <p:extLst>
      <p:ext uri="{BB962C8B-B14F-4D97-AF65-F5344CB8AC3E}">
        <p14:creationId xmlns:p14="http://schemas.microsoft.com/office/powerpoint/2010/main" val="1587435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C9491-0E6D-E3F5-3D80-B0EF0281ACE7}"/>
              </a:ext>
            </a:extLst>
          </p:cNvPr>
          <p:cNvSpPr>
            <a:spLocks noGrp="1"/>
          </p:cNvSpPr>
          <p:nvPr>
            <p:ph type="ctrTitle"/>
          </p:nvPr>
        </p:nvSpPr>
        <p:spPr>
          <a:xfrm>
            <a:off x="434848" y="409448"/>
            <a:ext cx="7315200" cy="3255264"/>
          </a:xfrm>
        </p:spPr>
        <p:txBody>
          <a:bodyPr>
            <a:normAutofit/>
          </a:bodyPr>
          <a:lstStyle/>
          <a:p>
            <a:r>
              <a:rPr lang="en-IN" sz="8000" dirty="0">
                <a:latin typeface="Gill Sans MT" panose="020B0502020104020203" pitchFamily="34" charset="0"/>
              </a:rPr>
              <a:t>TRUSTSHIELD UEBA</a:t>
            </a:r>
          </a:p>
        </p:txBody>
      </p:sp>
      <p:sp>
        <p:nvSpPr>
          <p:cNvPr id="3" name="Subtitle 2">
            <a:extLst>
              <a:ext uri="{FF2B5EF4-FFF2-40B4-BE49-F238E27FC236}">
                <a16:creationId xmlns:a16="http://schemas.microsoft.com/office/drawing/2014/main" id="{1C2AD0A5-44CB-5414-0043-6F07468033AF}"/>
              </a:ext>
            </a:extLst>
          </p:cNvPr>
          <p:cNvSpPr>
            <a:spLocks noGrp="1"/>
          </p:cNvSpPr>
          <p:nvPr>
            <p:ph type="subTitle" idx="1"/>
          </p:nvPr>
        </p:nvSpPr>
        <p:spPr>
          <a:xfrm>
            <a:off x="434848" y="3664712"/>
            <a:ext cx="8805985" cy="914400"/>
          </a:xfrm>
        </p:spPr>
        <p:txBody>
          <a:bodyPr>
            <a:noAutofit/>
          </a:bodyPr>
          <a:lstStyle/>
          <a:p>
            <a:r>
              <a:rPr lang="en-IN" sz="3000" b="1" dirty="0">
                <a:solidFill>
                  <a:schemeClr val="tx1"/>
                </a:solidFill>
              </a:rPr>
              <a:t>AI-Powered Explainable Insider Threat Detection Framework for Defence Networks</a:t>
            </a:r>
          </a:p>
        </p:txBody>
      </p:sp>
      <p:sp>
        <p:nvSpPr>
          <p:cNvPr id="4" name="TextBox 3">
            <a:extLst>
              <a:ext uri="{FF2B5EF4-FFF2-40B4-BE49-F238E27FC236}">
                <a16:creationId xmlns:a16="http://schemas.microsoft.com/office/drawing/2014/main" id="{135D800B-73BE-BA2C-2930-9D2FF507F5A2}"/>
              </a:ext>
            </a:extLst>
          </p:cNvPr>
          <p:cNvSpPr txBox="1"/>
          <p:nvPr/>
        </p:nvSpPr>
        <p:spPr>
          <a:xfrm>
            <a:off x="434848" y="4947780"/>
            <a:ext cx="5423770" cy="923330"/>
          </a:xfrm>
          <a:prstGeom prst="rect">
            <a:avLst/>
          </a:prstGeom>
          <a:noFill/>
        </p:spPr>
        <p:txBody>
          <a:bodyPr wrap="square" rtlCol="0">
            <a:spAutoFit/>
          </a:bodyPr>
          <a:lstStyle/>
          <a:p>
            <a:r>
              <a:rPr lang="en-IN" b="1" dirty="0"/>
              <a:t>PRESENTED BY</a:t>
            </a:r>
          </a:p>
          <a:p>
            <a:r>
              <a:rPr lang="en-IN" dirty="0"/>
              <a:t>P TANVEE SATYA (CH.SC.U4CYS24045)</a:t>
            </a:r>
          </a:p>
          <a:p>
            <a:r>
              <a:rPr lang="en-IN" dirty="0"/>
              <a:t>T MOULYA SRI (CH.SC.U4CYS24053)</a:t>
            </a:r>
          </a:p>
        </p:txBody>
      </p:sp>
    </p:spTree>
    <p:extLst>
      <p:ext uri="{BB962C8B-B14F-4D97-AF65-F5344CB8AC3E}">
        <p14:creationId xmlns:p14="http://schemas.microsoft.com/office/powerpoint/2010/main" val="3908383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6239-0088-69F6-1A7A-CCB715536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7F00-ED24-E188-B059-1C1A8A828B8E}"/>
              </a:ext>
            </a:extLst>
          </p:cNvPr>
          <p:cNvSpPr>
            <a:spLocks noGrp="1"/>
          </p:cNvSpPr>
          <p:nvPr>
            <p:ph type="title"/>
          </p:nvPr>
        </p:nvSpPr>
        <p:spPr/>
        <p:txBody>
          <a:bodyPr>
            <a:normAutofit/>
          </a:bodyPr>
          <a:lstStyle/>
          <a:p>
            <a:r>
              <a:rPr lang="en-IN" sz="4000" dirty="0">
                <a:latin typeface="Gill Sans MT" panose="020B0502020104020203" pitchFamily="34" charset="0"/>
              </a:rPr>
              <a:t>PROBLEM STATEMENT</a:t>
            </a:r>
          </a:p>
        </p:txBody>
      </p:sp>
      <p:sp>
        <p:nvSpPr>
          <p:cNvPr id="3" name="Content Placeholder 2">
            <a:extLst>
              <a:ext uri="{FF2B5EF4-FFF2-40B4-BE49-F238E27FC236}">
                <a16:creationId xmlns:a16="http://schemas.microsoft.com/office/drawing/2014/main" id="{621B2DBD-04F5-8E8B-41A5-F1F6413C5D38}"/>
              </a:ext>
            </a:extLst>
          </p:cNvPr>
          <p:cNvSpPr>
            <a:spLocks noGrp="1"/>
          </p:cNvSpPr>
          <p:nvPr>
            <p:ph idx="1"/>
          </p:nvPr>
        </p:nvSpPr>
        <p:spPr>
          <a:xfrm>
            <a:off x="3615209" y="743421"/>
            <a:ext cx="4338818" cy="2425665"/>
          </a:xfrm>
        </p:spPr>
        <p:txBody>
          <a:bodyPr>
            <a:normAutofit fontScale="92500"/>
          </a:bodyPr>
          <a:lstStyle/>
          <a:p>
            <a:pPr marL="0" indent="0">
              <a:buNone/>
            </a:pPr>
            <a:r>
              <a:rPr lang="en-IN" sz="2500" dirty="0">
                <a:solidFill>
                  <a:schemeClr val="tx1"/>
                </a:solidFill>
              </a:rPr>
              <a:t>Organizations generate millions of user activity logs every day. Traditional cybersecurity systems focus mainly on external attacks and fail to detect malicious activities performed by authorized users (insider threats).</a:t>
            </a:r>
          </a:p>
        </p:txBody>
      </p:sp>
      <p:sp>
        <p:nvSpPr>
          <p:cNvPr id="4" name="Rectangle: Rounded Corners 3">
            <a:extLst>
              <a:ext uri="{FF2B5EF4-FFF2-40B4-BE49-F238E27FC236}">
                <a16:creationId xmlns:a16="http://schemas.microsoft.com/office/drawing/2014/main" id="{EE4884E4-684C-F51F-72C3-2506DEA6C239}"/>
              </a:ext>
            </a:extLst>
          </p:cNvPr>
          <p:cNvSpPr/>
          <p:nvPr/>
        </p:nvSpPr>
        <p:spPr>
          <a:xfrm>
            <a:off x="3615209" y="3169086"/>
            <a:ext cx="3988090" cy="2855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100" b="1" dirty="0">
                <a:solidFill>
                  <a:schemeClr val="tx1"/>
                </a:solidFill>
              </a:rPr>
              <a:t>Challenges</a:t>
            </a:r>
          </a:p>
          <a:p>
            <a:pPr marL="285750" indent="-285750">
              <a:buFont typeface="Arial" panose="020B0604020202020204" pitchFamily="34" charset="0"/>
              <a:buChar char="•"/>
            </a:pPr>
            <a:r>
              <a:rPr lang="en-IN" sz="2100" dirty="0">
                <a:solidFill>
                  <a:schemeClr val="tx1"/>
                </a:solidFill>
              </a:rPr>
              <a:t>Static rule-based detection </a:t>
            </a:r>
          </a:p>
          <a:p>
            <a:pPr marL="285750" indent="-285750">
              <a:buFont typeface="Arial" panose="020B0604020202020204" pitchFamily="34" charset="0"/>
              <a:buChar char="•"/>
            </a:pPr>
            <a:r>
              <a:rPr lang="en-IN" sz="2100" dirty="0">
                <a:solidFill>
                  <a:schemeClr val="tx1"/>
                </a:solidFill>
              </a:rPr>
              <a:t>High false-positive alerts </a:t>
            </a:r>
          </a:p>
          <a:p>
            <a:pPr marL="285750" indent="-285750">
              <a:buFont typeface="Arial" panose="020B0604020202020204" pitchFamily="34" charset="0"/>
              <a:buChar char="•"/>
            </a:pPr>
            <a:r>
              <a:rPr lang="en-IN" sz="2100" dirty="0">
                <a:solidFill>
                  <a:schemeClr val="tx1"/>
                </a:solidFill>
              </a:rPr>
              <a:t>Black-box AI models </a:t>
            </a:r>
          </a:p>
          <a:p>
            <a:pPr marL="285750" indent="-285750">
              <a:buFont typeface="Arial" panose="020B0604020202020204" pitchFamily="34" charset="0"/>
              <a:buChar char="•"/>
            </a:pPr>
            <a:r>
              <a:rPr lang="en-IN" sz="2100" dirty="0">
                <a:solidFill>
                  <a:schemeClr val="tx1"/>
                </a:solidFill>
              </a:rPr>
              <a:t>Lack of behavioural adaptation </a:t>
            </a:r>
          </a:p>
          <a:p>
            <a:pPr marL="285750" indent="-285750">
              <a:buFont typeface="Arial" panose="020B0604020202020204" pitchFamily="34" charset="0"/>
              <a:buChar char="•"/>
            </a:pPr>
            <a:r>
              <a:rPr lang="en-IN" sz="2100" dirty="0">
                <a:solidFill>
                  <a:schemeClr val="tx1"/>
                </a:solidFill>
              </a:rPr>
              <a:t>Cloud dependency </a:t>
            </a:r>
          </a:p>
          <a:p>
            <a:pPr marL="285750" indent="-285750">
              <a:buFont typeface="Arial" panose="020B0604020202020204" pitchFamily="34" charset="0"/>
              <a:buChar char="•"/>
            </a:pPr>
            <a:r>
              <a:rPr lang="en-IN" sz="2100" dirty="0">
                <a:solidFill>
                  <a:schemeClr val="tx1"/>
                </a:solidFill>
              </a:rPr>
              <a:t>Poor analyst trust</a:t>
            </a:r>
          </a:p>
        </p:txBody>
      </p:sp>
      <p:sp>
        <p:nvSpPr>
          <p:cNvPr id="5" name="Rectangle 4">
            <a:extLst>
              <a:ext uri="{FF2B5EF4-FFF2-40B4-BE49-F238E27FC236}">
                <a16:creationId xmlns:a16="http://schemas.microsoft.com/office/drawing/2014/main" id="{56872573-6F85-FD6E-7011-29A1795AEB35}"/>
              </a:ext>
            </a:extLst>
          </p:cNvPr>
          <p:cNvSpPr/>
          <p:nvPr/>
        </p:nvSpPr>
        <p:spPr>
          <a:xfrm>
            <a:off x="8254652" y="743420"/>
            <a:ext cx="2981195" cy="28402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Research Problem</a:t>
            </a:r>
          </a:p>
          <a:p>
            <a:r>
              <a:rPr lang="en-IN" dirty="0">
                <a:solidFill>
                  <a:schemeClr val="tx1"/>
                </a:solidFill>
              </a:rPr>
              <a:t>How can an adaptive, explainable, and lightweight UEBA framework accurately detect insider threats while reducing false positives and supporting deployment in air-gapped defence environments?</a:t>
            </a:r>
          </a:p>
        </p:txBody>
      </p:sp>
      <p:pic>
        <p:nvPicPr>
          <p:cNvPr id="7" name="Picture 6">
            <a:extLst>
              <a:ext uri="{FF2B5EF4-FFF2-40B4-BE49-F238E27FC236}">
                <a16:creationId xmlns:a16="http://schemas.microsoft.com/office/drawing/2014/main" id="{EF4F466F-1D07-3C54-B3DE-D073E993E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3879" y="3688915"/>
            <a:ext cx="3494033" cy="1905836"/>
          </a:xfrm>
          <a:prstGeom prst="rect">
            <a:avLst/>
          </a:prstGeom>
        </p:spPr>
      </p:pic>
    </p:spTree>
    <p:extLst>
      <p:ext uri="{BB962C8B-B14F-4D97-AF65-F5344CB8AC3E}">
        <p14:creationId xmlns:p14="http://schemas.microsoft.com/office/powerpoint/2010/main" val="1066477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F6CD-CA21-D3AA-23B5-22A9B92ABF33}"/>
              </a:ext>
            </a:extLst>
          </p:cNvPr>
          <p:cNvSpPr>
            <a:spLocks noGrp="1"/>
          </p:cNvSpPr>
          <p:nvPr>
            <p:ph type="title"/>
          </p:nvPr>
        </p:nvSpPr>
        <p:spPr/>
        <p:txBody>
          <a:bodyPr>
            <a:normAutofit/>
          </a:bodyPr>
          <a:lstStyle/>
          <a:p>
            <a:r>
              <a:rPr lang="en-IN" sz="5000" dirty="0">
                <a:latin typeface="Gill Sans MT" panose="020B0502020104020203" pitchFamily="34" charset="0"/>
              </a:rPr>
              <a:t>PROJECT GOAL</a:t>
            </a:r>
          </a:p>
        </p:txBody>
      </p:sp>
      <p:sp>
        <p:nvSpPr>
          <p:cNvPr id="3" name="Content Placeholder 2">
            <a:extLst>
              <a:ext uri="{FF2B5EF4-FFF2-40B4-BE49-F238E27FC236}">
                <a16:creationId xmlns:a16="http://schemas.microsoft.com/office/drawing/2014/main" id="{27C0ABD9-79CD-BF6D-C3F1-34ECD5397CC5}"/>
              </a:ext>
            </a:extLst>
          </p:cNvPr>
          <p:cNvSpPr>
            <a:spLocks noGrp="1"/>
          </p:cNvSpPr>
          <p:nvPr>
            <p:ph idx="1"/>
          </p:nvPr>
        </p:nvSpPr>
        <p:spPr/>
        <p:txBody>
          <a:bodyPr>
            <a:normAutofit/>
          </a:bodyPr>
          <a:lstStyle/>
          <a:p>
            <a:pPr marL="0" indent="0">
              <a:buNone/>
            </a:pPr>
            <a:r>
              <a:rPr lang="en-IN" sz="3000" dirty="0">
                <a:solidFill>
                  <a:schemeClr val="tx1"/>
                </a:solidFill>
              </a:rPr>
              <a:t>Develop an intelligent </a:t>
            </a:r>
            <a:r>
              <a:rPr lang="en-IN" sz="3000" b="1" dirty="0">
                <a:solidFill>
                  <a:schemeClr val="tx1"/>
                </a:solidFill>
              </a:rPr>
              <a:t>User and Entity Behaviour Analytics (UEBA)</a:t>
            </a:r>
            <a:r>
              <a:rPr lang="en-IN" sz="3000" dirty="0">
                <a:solidFill>
                  <a:schemeClr val="tx1"/>
                </a:solidFill>
              </a:rPr>
              <a:t> framework that:</a:t>
            </a:r>
          </a:p>
          <a:p>
            <a:r>
              <a:rPr lang="en-IN" sz="3000" dirty="0">
                <a:solidFill>
                  <a:schemeClr val="tx1"/>
                </a:solidFill>
              </a:rPr>
              <a:t>Detects insider threats using AI and Machine Learning. </a:t>
            </a:r>
          </a:p>
          <a:p>
            <a:r>
              <a:rPr lang="en-IN" sz="3000" dirty="0">
                <a:solidFill>
                  <a:schemeClr val="tx1"/>
                </a:solidFill>
              </a:rPr>
              <a:t>Adapts to changing user behaviour. </a:t>
            </a:r>
          </a:p>
          <a:p>
            <a:r>
              <a:rPr lang="en-IN" sz="3000" dirty="0">
                <a:solidFill>
                  <a:schemeClr val="tx1"/>
                </a:solidFill>
              </a:rPr>
              <a:t>Provides explainable security alerts. </a:t>
            </a:r>
          </a:p>
          <a:p>
            <a:r>
              <a:rPr lang="en-IN" sz="3000" dirty="0">
                <a:solidFill>
                  <a:schemeClr val="tx1"/>
                </a:solidFill>
              </a:rPr>
              <a:t>Reduces false positives. </a:t>
            </a:r>
          </a:p>
          <a:p>
            <a:r>
              <a:rPr lang="en-IN" sz="3000" dirty="0">
                <a:solidFill>
                  <a:schemeClr val="tx1"/>
                </a:solidFill>
              </a:rPr>
              <a:t>Supports secure offline deployment for defence environments.</a:t>
            </a:r>
          </a:p>
        </p:txBody>
      </p:sp>
    </p:spTree>
    <p:extLst>
      <p:ext uri="{BB962C8B-B14F-4D97-AF65-F5344CB8AC3E}">
        <p14:creationId xmlns:p14="http://schemas.microsoft.com/office/powerpoint/2010/main" val="33173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D330C-AD88-82BD-4899-48022EE98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1E546-D517-0D85-B6B9-7F2E307503D0}"/>
              </a:ext>
            </a:extLst>
          </p:cNvPr>
          <p:cNvSpPr>
            <a:spLocks noGrp="1"/>
          </p:cNvSpPr>
          <p:nvPr>
            <p:ph type="title"/>
          </p:nvPr>
        </p:nvSpPr>
        <p:spPr/>
        <p:txBody>
          <a:bodyPr>
            <a:normAutofit/>
          </a:bodyPr>
          <a:lstStyle/>
          <a:p>
            <a:r>
              <a:rPr lang="en-IN" dirty="0">
                <a:latin typeface="Gill Sans MT" panose="020B0502020104020203" pitchFamily="34" charset="0"/>
              </a:rPr>
              <a:t>PROBLEM MOTIVATION</a:t>
            </a:r>
          </a:p>
        </p:txBody>
      </p:sp>
      <p:sp>
        <p:nvSpPr>
          <p:cNvPr id="3" name="Content Placeholder 2">
            <a:extLst>
              <a:ext uri="{FF2B5EF4-FFF2-40B4-BE49-F238E27FC236}">
                <a16:creationId xmlns:a16="http://schemas.microsoft.com/office/drawing/2014/main" id="{07CDA1E2-1F79-BDDB-B231-9ED38CFF8AD2}"/>
              </a:ext>
            </a:extLst>
          </p:cNvPr>
          <p:cNvSpPr>
            <a:spLocks noGrp="1"/>
          </p:cNvSpPr>
          <p:nvPr>
            <p:ph idx="1"/>
          </p:nvPr>
        </p:nvSpPr>
        <p:spPr>
          <a:xfrm>
            <a:off x="3457904" y="580035"/>
            <a:ext cx="7672552" cy="1087603"/>
          </a:xfrm>
        </p:spPr>
        <p:txBody>
          <a:bodyPr>
            <a:normAutofit fontScale="92500"/>
          </a:bodyPr>
          <a:lstStyle/>
          <a:p>
            <a:pPr marL="0" indent="0">
              <a:buNone/>
            </a:pPr>
            <a:r>
              <a:rPr lang="en-IN" sz="4700" b="1" dirty="0">
                <a:solidFill>
                  <a:schemeClr val="tx1"/>
                </a:solidFill>
              </a:rPr>
              <a:t>Why is this Problem Important?</a:t>
            </a:r>
            <a:endParaRPr kumimoji="0" lang="en-US" altLang="en-US" sz="4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endParaRPr>
          </a:p>
        </p:txBody>
      </p:sp>
      <p:sp>
        <p:nvSpPr>
          <p:cNvPr id="7" name="Rectangle 4">
            <a:extLst>
              <a:ext uri="{FF2B5EF4-FFF2-40B4-BE49-F238E27FC236}">
                <a16:creationId xmlns:a16="http://schemas.microsoft.com/office/drawing/2014/main" id="{A53BBB19-ADB3-F39E-0935-78C0E697762A}"/>
              </a:ext>
            </a:extLst>
          </p:cNvPr>
          <p:cNvSpPr>
            <a:spLocks noChangeArrowheads="1"/>
          </p:cNvSpPr>
          <p:nvPr/>
        </p:nvSpPr>
        <p:spPr bwMode="auto">
          <a:xfrm>
            <a:off x="3457904" y="1622688"/>
            <a:ext cx="8145517"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1200"/>
              </a:spcAft>
              <a:buFont typeface="Arial" panose="020B0604020202020204" pitchFamily="34" charset="0"/>
              <a:buChar char="•"/>
            </a:pPr>
            <a:r>
              <a:rPr lang="en-US" sz="2400" b="1" dirty="0"/>
              <a:t>Insider threats</a:t>
            </a:r>
            <a:r>
              <a:rPr lang="en-US" sz="2400" dirty="0"/>
              <a:t> are increasing and difficult to detect. </a:t>
            </a:r>
          </a:p>
          <a:p>
            <a:pPr>
              <a:spcAft>
                <a:spcPts val="1200"/>
              </a:spcAft>
              <a:buFont typeface="Arial" panose="020B0604020202020204" pitchFamily="34" charset="0"/>
              <a:buChar char="•"/>
            </a:pPr>
            <a:r>
              <a:rPr lang="en-US" sz="2400" b="1" dirty="0"/>
              <a:t>Trusted users</a:t>
            </a:r>
            <a:r>
              <a:rPr lang="en-US" sz="2400" dirty="0"/>
              <a:t> already possess legitimate system access. </a:t>
            </a:r>
          </a:p>
          <a:p>
            <a:pPr>
              <a:spcAft>
                <a:spcPts val="1200"/>
              </a:spcAft>
              <a:buFont typeface="Arial" panose="020B0604020202020204" pitchFamily="34" charset="0"/>
              <a:buChar char="•"/>
            </a:pPr>
            <a:r>
              <a:rPr lang="en-US" sz="2400" b="1" dirty="0"/>
              <a:t>Millions of security logs</a:t>
            </a:r>
            <a:r>
              <a:rPr lang="en-US" sz="2400" dirty="0"/>
              <a:t> make manual monitoring impractical. </a:t>
            </a:r>
          </a:p>
          <a:p>
            <a:pPr>
              <a:spcAft>
                <a:spcPts val="1200"/>
              </a:spcAft>
              <a:buFont typeface="Arial" panose="020B0604020202020204" pitchFamily="34" charset="0"/>
              <a:buChar char="•"/>
            </a:pPr>
            <a:r>
              <a:rPr lang="en-US" sz="2400" b="1" dirty="0"/>
              <a:t>Traditional IDS, Firewalls &amp; SIEM</a:t>
            </a:r>
            <a:r>
              <a:rPr lang="en-US" sz="2400" dirty="0"/>
              <a:t> primarily detect external attacks. </a:t>
            </a:r>
          </a:p>
          <a:p>
            <a:pPr>
              <a:spcAft>
                <a:spcPts val="1200"/>
              </a:spcAft>
              <a:buFont typeface="Arial" panose="020B0604020202020204" pitchFamily="34" charset="0"/>
              <a:buChar char="•"/>
            </a:pPr>
            <a:r>
              <a:rPr lang="en-US" sz="2400" b="1" dirty="0"/>
              <a:t>Privileged users</a:t>
            </a:r>
            <a:r>
              <a:rPr lang="en-US" sz="2400" dirty="0"/>
              <a:t> can misuse authorized access without triggering conventional security controls. </a:t>
            </a:r>
          </a:p>
          <a:p>
            <a:pPr>
              <a:spcAft>
                <a:spcPts val="1200"/>
              </a:spcAft>
              <a:buFont typeface="Arial" panose="020B0604020202020204" pitchFamily="34" charset="0"/>
              <a:buChar char="•"/>
            </a:pPr>
            <a:r>
              <a:rPr lang="en-US" sz="2400" b="1" dirty="0"/>
              <a:t>A single insider</a:t>
            </a:r>
            <a:r>
              <a:rPr lang="en-US" sz="2400" dirty="0"/>
              <a:t> can compromise sensitive </a:t>
            </a:r>
            <a:r>
              <a:rPr lang="en-US" sz="2400" dirty="0" err="1"/>
              <a:t>defence</a:t>
            </a:r>
            <a:r>
              <a:rPr lang="en-US" sz="2400" dirty="0"/>
              <a:t> data and mission-critical infrastructure. </a:t>
            </a:r>
          </a:p>
        </p:txBody>
      </p:sp>
    </p:spTree>
    <p:extLst>
      <p:ext uri="{BB962C8B-B14F-4D97-AF65-F5344CB8AC3E}">
        <p14:creationId xmlns:p14="http://schemas.microsoft.com/office/powerpoint/2010/main" val="788851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9A344-1BB1-0F81-0DAD-7BB8E9801CF5}"/>
              </a:ext>
            </a:extLst>
          </p:cNvPr>
          <p:cNvSpPr>
            <a:spLocks noGrp="1"/>
          </p:cNvSpPr>
          <p:nvPr>
            <p:ph type="title"/>
          </p:nvPr>
        </p:nvSpPr>
        <p:spPr/>
        <p:txBody>
          <a:bodyPr/>
          <a:lstStyle/>
          <a:p>
            <a:r>
              <a:rPr lang="en-US" dirty="0">
                <a:latin typeface="Gill Sans MT" panose="020B0502020104020203" pitchFamily="34" charset="0"/>
              </a:rPr>
              <a:t>L</a:t>
            </a:r>
            <a:r>
              <a:rPr lang="en-IN" dirty="0">
                <a:latin typeface="Gill Sans MT" panose="020B0502020104020203" pitchFamily="34" charset="0"/>
              </a:rPr>
              <a:t>ITERATURE REVIEW</a:t>
            </a:r>
            <a:endParaRPr lang="en-IN" dirty="0"/>
          </a:p>
        </p:txBody>
      </p:sp>
      <p:graphicFrame>
        <p:nvGraphicFramePr>
          <p:cNvPr id="10" name="Table 9">
            <a:extLst>
              <a:ext uri="{FF2B5EF4-FFF2-40B4-BE49-F238E27FC236}">
                <a16:creationId xmlns:a16="http://schemas.microsoft.com/office/drawing/2014/main" id="{9A8F89FB-7948-A364-5543-EA453609E2D4}"/>
              </a:ext>
            </a:extLst>
          </p:cNvPr>
          <p:cNvGraphicFramePr>
            <a:graphicFrameLocks noGrp="1"/>
          </p:cNvGraphicFramePr>
          <p:nvPr>
            <p:extLst>
              <p:ext uri="{D42A27DB-BD31-4B8C-83A1-F6EECF244321}">
                <p14:modId xmlns:p14="http://schemas.microsoft.com/office/powerpoint/2010/main" val="3535479702"/>
              </p:ext>
            </p:extLst>
          </p:nvPr>
        </p:nvGraphicFramePr>
        <p:xfrm>
          <a:off x="3594538" y="502119"/>
          <a:ext cx="7937064" cy="5837016"/>
        </p:xfrm>
        <a:graphic>
          <a:graphicData uri="http://schemas.openxmlformats.org/drawingml/2006/table">
            <a:tbl>
              <a:tblPr>
                <a:tableStyleId>{BC89EF96-8CEA-46FF-86C4-4CE0E7609802}</a:tableStyleId>
              </a:tblPr>
              <a:tblGrid>
                <a:gridCol w="1984266">
                  <a:extLst>
                    <a:ext uri="{9D8B030D-6E8A-4147-A177-3AD203B41FA5}">
                      <a16:colId xmlns:a16="http://schemas.microsoft.com/office/drawing/2014/main" val="344409271"/>
                    </a:ext>
                  </a:extLst>
                </a:gridCol>
                <a:gridCol w="1984266">
                  <a:extLst>
                    <a:ext uri="{9D8B030D-6E8A-4147-A177-3AD203B41FA5}">
                      <a16:colId xmlns:a16="http://schemas.microsoft.com/office/drawing/2014/main" val="2953285512"/>
                    </a:ext>
                  </a:extLst>
                </a:gridCol>
                <a:gridCol w="1984266">
                  <a:extLst>
                    <a:ext uri="{9D8B030D-6E8A-4147-A177-3AD203B41FA5}">
                      <a16:colId xmlns:a16="http://schemas.microsoft.com/office/drawing/2014/main" val="776414578"/>
                    </a:ext>
                  </a:extLst>
                </a:gridCol>
                <a:gridCol w="1984266">
                  <a:extLst>
                    <a:ext uri="{9D8B030D-6E8A-4147-A177-3AD203B41FA5}">
                      <a16:colId xmlns:a16="http://schemas.microsoft.com/office/drawing/2014/main" val="1242515977"/>
                    </a:ext>
                  </a:extLst>
                </a:gridCol>
              </a:tblGrid>
              <a:tr h="276016">
                <a:tc>
                  <a:txBody>
                    <a:bodyPr/>
                    <a:lstStyle/>
                    <a:p>
                      <a:r>
                        <a:rPr lang="en-IN" sz="1500" b="1"/>
                        <a:t>Research Work</a:t>
                      </a:r>
                      <a:endParaRPr lang="en-IN" sz="1500"/>
                    </a:p>
                  </a:txBody>
                  <a:tcPr marL="48774" marR="48774" marT="24387" marB="24387" anchor="ctr"/>
                </a:tc>
                <a:tc>
                  <a:txBody>
                    <a:bodyPr/>
                    <a:lstStyle/>
                    <a:p>
                      <a:r>
                        <a:rPr lang="en-IN" sz="1500" b="1"/>
                        <a:t>Approach</a:t>
                      </a:r>
                      <a:endParaRPr lang="en-IN" sz="1500"/>
                    </a:p>
                  </a:txBody>
                  <a:tcPr marL="48774" marR="48774" marT="24387" marB="24387" anchor="ctr"/>
                </a:tc>
                <a:tc>
                  <a:txBody>
                    <a:bodyPr/>
                    <a:lstStyle/>
                    <a:p>
                      <a:r>
                        <a:rPr lang="en-IN" sz="1500" b="1"/>
                        <a:t>Key Findings</a:t>
                      </a:r>
                      <a:endParaRPr lang="en-IN" sz="1500"/>
                    </a:p>
                  </a:txBody>
                  <a:tcPr marL="48774" marR="48774" marT="24387" marB="24387" anchor="ctr"/>
                </a:tc>
                <a:tc>
                  <a:txBody>
                    <a:bodyPr/>
                    <a:lstStyle/>
                    <a:p>
                      <a:r>
                        <a:rPr lang="en-IN" sz="1500" b="1"/>
                        <a:t>Research Gap</a:t>
                      </a:r>
                      <a:endParaRPr lang="en-IN" sz="1500"/>
                    </a:p>
                  </a:txBody>
                  <a:tcPr marL="48774" marR="48774" marT="24387" marB="24387" anchor="ctr"/>
                </a:tc>
                <a:extLst>
                  <a:ext uri="{0D108BD9-81ED-4DB2-BD59-A6C34878D82A}">
                    <a16:rowId xmlns:a16="http://schemas.microsoft.com/office/drawing/2014/main" val="630618742"/>
                  </a:ext>
                </a:extLst>
              </a:tr>
              <a:tr h="1185941">
                <a:tc>
                  <a:txBody>
                    <a:bodyPr/>
                    <a:lstStyle/>
                    <a:p>
                      <a:r>
                        <a:rPr lang="it-IT" sz="1500" b="1"/>
                        <a:t>Al-Shehari et al. (IEEE Access, 2023)</a:t>
                      </a:r>
                      <a:endParaRPr lang="it-IT" sz="1500"/>
                    </a:p>
                  </a:txBody>
                  <a:tcPr marL="48774" marR="48774" marT="24387" marB="24387" anchor="ctr"/>
                </a:tc>
                <a:tc>
                  <a:txBody>
                    <a:bodyPr/>
                    <a:lstStyle/>
                    <a:p>
                      <a:r>
                        <a:rPr lang="en-IN" sz="1500"/>
                        <a:t>Isolation Forest</a:t>
                      </a:r>
                    </a:p>
                  </a:txBody>
                  <a:tcPr marL="48774" marR="48774" marT="24387" marB="24387" anchor="ctr"/>
                </a:tc>
                <a:tc>
                  <a:txBody>
                    <a:bodyPr/>
                    <a:lstStyle/>
                    <a:p>
                      <a:r>
                        <a:rPr lang="en-US" sz="1500"/>
                        <a:t>Achieved high anomaly detection accuracy on CERT dataset.</a:t>
                      </a:r>
                    </a:p>
                  </a:txBody>
                  <a:tcPr marL="48774" marR="48774" marT="24387" marB="24387" anchor="ctr"/>
                </a:tc>
                <a:tc>
                  <a:txBody>
                    <a:bodyPr/>
                    <a:lstStyle/>
                    <a:p>
                      <a:r>
                        <a:rPr lang="en-US" sz="1500"/>
                        <a:t>Relies on a single model with static behavioural baselines, leading to false positives.</a:t>
                      </a:r>
                    </a:p>
                  </a:txBody>
                  <a:tcPr marL="48774" marR="48774" marT="24387" marB="24387" anchor="ctr"/>
                </a:tc>
                <a:extLst>
                  <a:ext uri="{0D108BD9-81ED-4DB2-BD59-A6C34878D82A}">
                    <a16:rowId xmlns:a16="http://schemas.microsoft.com/office/drawing/2014/main" val="4140601348"/>
                  </a:ext>
                </a:extLst>
              </a:tr>
              <a:tr h="958459">
                <a:tc>
                  <a:txBody>
                    <a:bodyPr/>
                    <a:lstStyle/>
                    <a:p>
                      <a:r>
                        <a:rPr lang="en-IN" sz="1500" b="1"/>
                        <a:t>Artioli et al. (Frontiers, 2024)</a:t>
                      </a:r>
                      <a:endParaRPr lang="en-IN" sz="1500"/>
                    </a:p>
                  </a:txBody>
                  <a:tcPr marL="48774" marR="48774" marT="24387" marB="24387" anchor="ctr"/>
                </a:tc>
                <a:tc>
                  <a:txBody>
                    <a:bodyPr/>
                    <a:lstStyle/>
                    <a:p>
                      <a:r>
                        <a:rPr lang="en-IN" sz="1500" dirty="0"/>
                        <a:t>Behaviour Clustering (HDBSCAN, </a:t>
                      </a:r>
                      <a:r>
                        <a:rPr lang="en-IN" sz="1500" dirty="0" err="1"/>
                        <a:t>DenMune</a:t>
                      </a:r>
                      <a:r>
                        <a:rPr lang="en-IN" sz="1500" dirty="0"/>
                        <a:t>)</a:t>
                      </a:r>
                    </a:p>
                  </a:txBody>
                  <a:tcPr marL="48774" marR="48774" marT="24387" marB="24387" anchor="ctr"/>
                </a:tc>
                <a:tc>
                  <a:txBody>
                    <a:bodyPr/>
                    <a:lstStyle/>
                    <a:p>
                      <a:r>
                        <a:rPr lang="en-US" sz="1500"/>
                        <a:t>Effective user grouping for UEBA.</a:t>
                      </a:r>
                    </a:p>
                  </a:txBody>
                  <a:tcPr marL="48774" marR="48774" marT="24387" marB="24387" anchor="ctr"/>
                </a:tc>
                <a:tc>
                  <a:txBody>
                    <a:bodyPr/>
                    <a:lstStyle/>
                    <a:p>
                      <a:r>
                        <a:rPr lang="en-US" sz="1500"/>
                        <a:t>No adaptive learning, context-aware risk scoring, or explainability.</a:t>
                      </a:r>
                    </a:p>
                  </a:txBody>
                  <a:tcPr marL="48774" marR="48774" marT="24387" marB="24387" anchor="ctr"/>
                </a:tc>
                <a:extLst>
                  <a:ext uri="{0D108BD9-81ED-4DB2-BD59-A6C34878D82A}">
                    <a16:rowId xmlns:a16="http://schemas.microsoft.com/office/drawing/2014/main" val="2341389178"/>
                  </a:ext>
                </a:extLst>
              </a:tr>
              <a:tr h="843903">
                <a:tc>
                  <a:txBody>
                    <a:bodyPr/>
                    <a:lstStyle/>
                    <a:p>
                      <a:r>
                        <a:rPr lang="en-US" sz="1500" b="1"/>
                        <a:t>Alketbi &amp; Mehmood (IEEE Access, 2025)</a:t>
                      </a:r>
                      <a:endParaRPr lang="en-US" sz="1500"/>
                    </a:p>
                  </a:txBody>
                  <a:tcPr marL="48774" marR="48774" marT="24387" marB="24387" anchor="ctr"/>
                </a:tc>
                <a:tc>
                  <a:txBody>
                    <a:bodyPr/>
                    <a:lstStyle/>
                    <a:p>
                      <a:r>
                        <a:rPr lang="en-IN" sz="1500"/>
                        <a:t>Explainable AI (SHAP/LIME)</a:t>
                      </a:r>
                    </a:p>
                  </a:txBody>
                  <a:tcPr marL="48774" marR="48774" marT="24387" marB="24387" anchor="ctr"/>
                </a:tc>
                <a:tc>
                  <a:txBody>
                    <a:bodyPr/>
                    <a:lstStyle/>
                    <a:p>
                      <a:r>
                        <a:rPr lang="en-US" sz="1500"/>
                        <a:t>Improved analyst trust through interpretable alerts.</a:t>
                      </a:r>
                    </a:p>
                  </a:txBody>
                  <a:tcPr marL="48774" marR="48774" marT="24387" marB="24387" anchor="ctr"/>
                </a:tc>
                <a:tc>
                  <a:txBody>
                    <a:bodyPr/>
                    <a:lstStyle/>
                    <a:p>
                      <a:r>
                        <a:rPr lang="en-US" sz="1500"/>
                        <a:t>Does not evaluate explanation reliability or adaptive behaviour.</a:t>
                      </a:r>
                    </a:p>
                  </a:txBody>
                  <a:tcPr marL="48774" marR="48774" marT="24387" marB="24387" anchor="ctr"/>
                </a:tc>
                <a:extLst>
                  <a:ext uri="{0D108BD9-81ED-4DB2-BD59-A6C34878D82A}">
                    <a16:rowId xmlns:a16="http://schemas.microsoft.com/office/drawing/2014/main" val="350269364"/>
                  </a:ext>
                </a:extLst>
              </a:tr>
              <a:tr h="1185941">
                <a:tc>
                  <a:txBody>
                    <a:bodyPr/>
                    <a:lstStyle/>
                    <a:p>
                      <a:r>
                        <a:rPr lang="en-IN" sz="1500" b="1"/>
                        <a:t>Hybrid UEBA Models (2025–2026)</a:t>
                      </a:r>
                      <a:endParaRPr lang="en-IN" sz="1500"/>
                    </a:p>
                  </a:txBody>
                  <a:tcPr marL="48774" marR="48774" marT="24387" marB="24387" anchor="ctr"/>
                </a:tc>
                <a:tc>
                  <a:txBody>
                    <a:bodyPr/>
                    <a:lstStyle/>
                    <a:p>
                      <a:r>
                        <a:rPr lang="en-IN" sz="1500" dirty="0"/>
                        <a:t>Autoencoders &amp; Deep Learning</a:t>
                      </a:r>
                    </a:p>
                  </a:txBody>
                  <a:tcPr marL="48774" marR="48774" marT="24387" marB="24387" anchor="ctr"/>
                </a:tc>
                <a:tc>
                  <a:txBody>
                    <a:bodyPr/>
                    <a:lstStyle/>
                    <a:p>
                      <a:r>
                        <a:rPr lang="en-US" sz="1500" dirty="0"/>
                        <a:t>Better temporal anomaly detection performance.</a:t>
                      </a:r>
                    </a:p>
                  </a:txBody>
                  <a:tcPr marL="48774" marR="48774" marT="24387" marB="24387" anchor="ctr"/>
                </a:tc>
                <a:tc>
                  <a:txBody>
                    <a:bodyPr/>
                    <a:lstStyle/>
                    <a:p>
                      <a:r>
                        <a:rPr lang="en-US" sz="1500" dirty="0"/>
                        <a:t>Computationally expensive and unsuitable for lightweight offline deployment.</a:t>
                      </a:r>
                    </a:p>
                  </a:txBody>
                  <a:tcPr marL="48774" marR="48774" marT="24387" marB="24387" anchor="ctr"/>
                </a:tc>
                <a:extLst>
                  <a:ext uri="{0D108BD9-81ED-4DB2-BD59-A6C34878D82A}">
                    <a16:rowId xmlns:a16="http://schemas.microsoft.com/office/drawing/2014/main" val="2842899469"/>
                  </a:ext>
                </a:extLst>
              </a:tr>
              <a:tr h="1374850">
                <a:tc>
                  <a:txBody>
                    <a:bodyPr/>
                    <a:lstStyle/>
                    <a:p>
                      <a:r>
                        <a:rPr lang="en-IN" sz="1500" b="1" dirty="0"/>
                        <a:t>Systematic Literature Reviews (2024–2026)</a:t>
                      </a:r>
                      <a:endParaRPr lang="en-IN" sz="1500" dirty="0"/>
                    </a:p>
                  </a:txBody>
                  <a:tcPr marL="48774" marR="48774" marT="24387" marB="24387" anchor="ctr"/>
                </a:tc>
                <a:tc>
                  <a:txBody>
                    <a:bodyPr/>
                    <a:lstStyle/>
                    <a:p>
                      <a:r>
                        <a:rPr lang="en-IN" sz="1500"/>
                        <a:t>Survey</a:t>
                      </a:r>
                    </a:p>
                  </a:txBody>
                  <a:tcPr marL="48774" marR="48774" marT="24387" marB="24387" anchor="ctr"/>
                </a:tc>
                <a:tc>
                  <a:txBody>
                    <a:bodyPr/>
                    <a:lstStyle/>
                    <a:p>
                      <a:r>
                        <a:rPr lang="en-US" sz="1500"/>
                        <a:t>Highlights the importance of behavioural analytics in UEBA.</a:t>
                      </a:r>
                    </a:p>
                  </a:txBody>
                  <a:tcPr marL="48774" marR="48774" marT="24387" marB="24387" anchor="ctr"/>
                </a:tc>
                <a:tc>
                  <a:txBody>
                    <a:bodyPr/>
                    <a:lstStyle/>
                    <a:p>
                      <a:r>
                        <a:rPr lang="en-US" sz="1500" dirty="0"/>
                        <a:t>Existing solutions lack integrated adaptive learning, </a:t>
                      </a:r>
                      <a:r>
                        <a:rPr lang="en-US" sz="1500" dirty="0" err="1"/>
                        <a:t>explainability</a:t>
                      </a:r>
                      <a:r>
                        <a:rPr lang="en-US" sz="1500" dirty="0"/>
                        <a:t>, and </a:t>
                      </a:r>
                      <a:r>
                        <a:rPr lang="en-US" sz="1500" dirty="0" err="1"/>
                        <a:t>defence</a:t>
                      </a:r>
                      <a:r>
                        <a:rPr lang="en-US" sz="1500" dirty="0"/>
                        <a:t>-focused deployment.</a:t>
                      </a:r>
                    </a:p>
                  </a:txBody>
                  <a:tcPr marL="48774" marR="48774" marT="24387" marB="24387" anchor="ctr"/>
                </a:tc>
                <a:extLst>
                  <a:ext uri="{0D108BD9-81ED-4DB2-BD59-A6C34878D82A}">
                    <a16:rowId xmlns:a16="http://schemas.microsoft.com/office/drawing/2014/main" val="4203442112"/>
                  </a:ext>
                </a:extLst>
              </a:tr>
            </a:tbl>
          </a:graphicData>
        </a:graphic>
      </p:graphicFrame>
    </p:spTree>
    <p:extLst>
      <p:ext uri="{BB962C8B-B14F-4D97-AF65-F5344CB8AC3E}">
        <p14:creationId xmlns:p14="http://schemas.microsoft.com/office/powerpoint/2010/main" val="485713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90A9-76E9-55A7-FF78-C4EB934B7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1BBF9-2217-15B2-F353-ACD6971764ED}"/>
              </a:ext>
            </a:extLst>
          </p:cNvPr>
          <p:cNvSpPr>
            <a:spLocks noGrp="1"/>
          </p:cNvSpPr>
          <p:nvPr>
            <p:ph type="title"/>
          </p:nvPr>
        </p:nvSpPr>
        <p:spPr/>
        <p:txBody>
          <a:bodyPr>
            <a:normAutofit/>
          </a:bodyPr>
          <a:lstStyle/>
          <a:p>
            <a:r>
              <a:rPr lang="en-IN" dirty="0">
                <a:latin typeface="Gill Sans MT" panose="020B0502020104020203" pitchFamily="34" charset="0"/>
              </a:rPr>
              <a:t>PROPOSED SOLUTION</a:t>
            </a:r>
          </a:p>
        </p:txBody>
      </p:sp>
      <p:sp>
        <p:nvSpPr>
          <p:cNvPr id="3" name="Content Placeholder 2">
            <a:extLst>
              <a:ext uri="{FF2B5EF4-FFF2-40B4-BE49-F238E27FC236}">
                <a16:creationId xmlns:a16="http://schemas.microsoft.com/office/drawing/2014/main" id="{35A66C06-2539-F910-1D8C-A96D1E867E4C}"/>
              </a:ext>
            </a:extLst>
          </p:cNvPr>
          <p:cNvSpPr>
            <a:spLocks noGrp="1"/>
          </p:cNvSpPr>
          <p:nvPr>
            <p:ph idx="1"/>
          </p:nvPr>
        </p:nvSpPr>
        <p:spPr>
          <a:xfrm>
            <a:off x="3538223" y="536534"/>
            <a:ext cx="7144649" cy="713231"/>
          </a:xfrm>
        </p:spPr>
        <p:txBody>
          <a:bodyPr>
            <a:normAutofit/>
          </a:bodyPr>
          <a:lstStyle/>
          <a:p>
            <a:pPr marL="0" indent="0">
              <a:buNone/>
            </a:pPr>
            <a:r>
              <a:rPr lang="en-IN" sz="4000" b="1" dirty="0">
                <a:solidFill>
                  <a:schemeClr val="tx1"/>
                </a:solidFill>
              </a:rPr>
              <a:t>TrustShield UEBA</a:t>
            </a:r>
          </a:p>
        </p:txBody>
      </p:sp>
      <p:sp>
        <p:nvSpPr>
          <p:cNvPr id="6" name="TextBox 5">
            <a:extLst>
              <a:ext uri="{FF2B5EF4-FFF2-40B4-BE49-F238E27FC236}">
                <a16:creationId xmlns:a16="http://schemas.microsoft.com/office/drawing/2014/main" id="{6F600C08-EC59-FA45-EDCD-D67C2B5DDB39}"/>
              </a:ext>
            </a:extLst>
          </p:cNvPr>
          <p:cNvSpPr txBox="1"/>
          <p:nvPr/>
        </p:nvSpPr>
        <p:spPr>
          <a:xfrm>
            <a:off x="3622306" y="2780171"/>
            <a:ext cx="7425302" cy="3677930"/>
          </a:xfrm>
          <a:prstGeom prst="rect">
            <a:avLst/>
          </a:prstGeom>
          <a:noFill/>
        </p:spPr>
        <p:txBody>
          <a:bodyPr wrap="square">
            <a:spAutoFit/>
          </a:bodyPr>
          <a:lstStyle/>
          <a:p>
            <a:pPr>
              <a:spcAft>
                <a:spcPts val="600"/>
              </a:spcAft>
              <a:buNone/>
            </a:pPr>
            <a:r>
              <a:rPr lang="en-IN" sz="3000" b="1" dirty="0"/>
              <a:t>Key Features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Adaptive Behaviour Learning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Consensus-Based Multi-Model Detection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Context-Aware Risk Engine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Explainable AI (XAI)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Explanation Reliability Score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Interactive Analyst Dashboard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Lightweight Offline Deployment </a:t>
            </a:r>
          </a:p>
        </p:txBody>
      </p:sp>
      <p:sp>
        <p:nvSpPr>
          <p:cNvPr id="4" name="TextBox 3">
            <a:extLst>
              <a:ext uri="{FF2B5EF4-FFF2-40B4-BE49-F238E27FC236}">
                <a16:creationId xmlns:a16="http://schemas.microsoft.com/office/drawing/2014/main" id="{381C039A-A6A7-E1C4-BB26-60EF4B1D1E0F}"/>
              </a:ext>
            </a:extLst>
          </p:cNvPr>
          <p:cNvSpPr txBox="1"/>
          <p:nvPr/>
        </p:nvSpPr>
        <p:spPr>
          <a:xfrm>
            <a:off x="3622306" y="1155172"/>
            <a:ext cx="7914640" cy="1631216"/>
          </a:xfrm>
          <a:prstGeom prst="rect">
            <a:avLst/>
          </a:prstGeom>
          <a:noFill/>
        </p:spPr>
        <p:txBody>
          <a:bodyPr wrap="square" rtlCol="0">
            <a:spAutoFit/>
          </a:bodyPr>
          <a:lstStyle/>
          <a:p>
            <a:r>
              <a:rPr lang="en-US" sz="2000" dirty="0"/>
              <a:t>TrustShield UEBA is an AI-powered insider threat detection framework that continuously learns user behaviour, identifies anomalous activities through multiple AI models, evaluates contextual risk, provides explainable security decisions, and enables lightweight deployment in secure defense environments.</a:t>
            </a:r>
            <a:endParaRPr lang="en-IN" sz="2000" dirty="0"/>
          </a:p>
        </p:txBody>
      </p:sp>
    </p:spTree>
    <p:extLst>
      <p:ext uri="{BB962C8B-B14F-4D97-AF65-F5344CB8AC3E}">
        <p14:creationId xmlns:p14="http://schemas.microsoft.com/office/powerpoint/2010/main" val="1652487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9F100-95B5-AAB3-FB6D-94C2E54FC3CF}"/>
              </a:ext>
            </a:extLst>
          </p:cNvPr>
          <p:cNvSpPr>
            <a:spLocks noGrp="1"/>
          </p:cNvSpPr>
          <p:nvPr>
            <p:ph type="title"/>
          </p:nvPr>
        </p:nvSpPr>
        <p:spPr>
          <a:xfrm>
            <a:off x="0" y="1123837"/>
            <a:ext cx="3350260" cy="4601183"/>
          </a:xfrm>
        </p:spPr>
        <p:txBody>
          <a:bodyPr/>
          <a:lstStyle/>
          <a:p>
            <a:r>
              <a:rPr lang="en-US" b="1" dirty="0"/>
              <a:t>ARCHITECTURE </a:t>
            </a:r>
            <a:br>
              <a:rPr lang="en-US" b="1" dirty="0"/>
            </a:br>
            <a:r>
              <a:rPr lang="en-US" b="1" dirty="0"/>
              <a:t>DIAGRAM</a:t>
            </a:r>
            <a:endParaRPr lang="en-IN" b="1" dirty="0"/>
          </a:p>
        </p:txBody>
      </p:sp>
      <p:pic>
        <p:nvPicPr>
          <p:cNvPr id="3" name="Picture 2">
            <a:extLst>
              <a:ext uri="{FF2B5EF4-FFF2-40B4-BE49-F238E27FC236}">
                <a16:creationId xmlns:a16="http://schemas.microsoft.com/office/drawing/2014/main" id="{2FB9FFD4-0296-5D5B-2DB5-CF8E02AB7A21}"/>
              </a:ext>
            </a:extLst>
          </p:cNvPr>
          <p:cNvPicPr>
            <a:picLocks noChangeAspect="1"/>
          </p:cNvPicPr>
          <p:nvPr/>
        </p:nvPicPr>
        <p:blipFill>
          <a:blip r:embed="rId2"/>
          <a:stretch>
            <a:fillRect/>
          </a:stretch>
        </p:blipFill>
        <p:spPr>
          <a:xfrm>
            <a:off x="3350260" y="721359"/>
            <a:ext cx="8841740" cy="5894493"/>
          </a:xfrm>
          <a:prstGeom prst="rect">
            <a:avLst/>
          </a:prstGeom>
        </p:spPr>
      </p:pic>
    </p:spTree>
    <p:extLst>
      <p:ext uri="{BB962C8B-B14F-4D97-AF65-F5344CB8AC3E}">
        <p14:creationId xmlns:p14="http://schemas.microsoft.com/office/powerpoint/2010/main" val="1834699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7838-4C9C-35A2-44E5-6FA0D86F519E}"/>
              </a:ext>
            </a:extLst>
          </p:cNvPr>
          <p:cNvSpPr>
            <a:spLocks noGrp="1"/>
          </p:cNvSpPr>
          <p:nvPr>
            <p:ph type="title"/>
          </p:nvPr>
        </p:nvSpPr>
        <p:spPr/>
        <p:txBody>
          <a:bodyPr/>
          <a:lstStyle/>
          <a:p>
            <a:r>
              <a:rPr lang="en-US" b="1" dirty="0"/>
              <a:t>DATAFLOW</a:t>
            </a:r>
            <a:br>
              <a:rPr lang="en-US" b="1" dirty="0"/>
            </a:br>
            <a:r>
              <a:rPr lang="en-US" b="1" dirty="0"/>
              <a:t>DIAGRAM</a:t>
            </a:r>
            <a:endParaRPr lang="en-IN" b="1" dirty="0"/>
          </a:p>
        </p:txBody>
      </p:sp>
      <p:pic>
        <p:nvPicPr>
          <p:cNvPr id="3" name="Picture 2">
            <a:extLst>
              <a:ext uri="{FF2B5EF4-FFF2-40B4-BE49-F238E27FC236}">
                <a16:creationId xmlns:a16="http://schemas.microsoft.com/office/drawing/2014/main" id="{5341E6A3-B283-D7C3-75AD-7A9DCF90D1EA}"/>
              </a:ext>
            </a:extLst>
          </p:cNvPr>
          <p:cNvPicPr>
            <a:picLocks noChangeAspect="1"/>
          </p:cNvPicPr>
          <p:nvPr/>
        </p:nvPicPr>
        <p:blipFill rotWithShape="1">
          <a:blip r:embed="rId2"/>
          <a:srcRect t="7177" b="2897"/>
          <a:stretch/>
        </p:blipFill>
        <p:spPr>
          <a:xfrm>
            <a:off x="3647440" y="181272"/>
            <a:ext cx="7853680" cy="6676728"/>
          </a:xfrm>
          <a:prstGeom prst="rect">
            <a:avLst/>
          </a:prstGeom>
        </p:spPr>
      </p:pic>
    </p:spTree>
    <p:extLst>
      <p:ext uri="{BB962C8B-B14F-4D97-AF65-F5344CB8AC3E}">
        <p14:creationId xmlns:p14="http://schemas.microsoft.com/office/powerpoint/2010/main" val="157383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2C0161-5544-17FD-F969-BFA604AD5E0B}"/>
              </a:ext>
            </a:extLst>
          </p:cNvPr>
          <p:cNvSpPr txBox="1"/>
          <p:nvPr/>
        </p:nvSpPr>
        <p:spPr>
          <a:xfrm>
            <a:off x="4551680" y="2462351"/>
            <a:ext cx="2834640" cy="1200329"/>
          </a:xfrm>
          <a:prstGeom prst="rect">
            <a:avLst/>
          </a:prstGeom>
          <a:noFill/>
        </p:spPr>
        <p:txBody>
          <a:bodyPr wrap="square" rtlCol="0">
            <a:spAutoFit/>
          </a:bodyPr>
          <a:lstStyle/>
          <a:p>
            <a:r>
              <a:rPr lang="en-US" sz="7200" b="1" dirty="0"/>
              <a:t>DEMO</a:t>
            </a:r>
            <a:endParaRPr lang="en-IN" sz="7200" b="1" dirty="0"/>
          </a:p>
        </p:txBody>
      </p:sp>
    </p:spTree>
    <p:extLst>
      <p:ext uri="{BB962C8B-B14F-4D97-AF65-F5344CB8AC3E}">
        <p14:creationId xmlns:p14="http://schemas.microsoft.com/office/powerpoint/2010/main" val="350713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F392A-1AF9-247A-2E1C-A52463DD4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8DAD5-F10E-5EA9-BE9F-2E2A6DB52453}"/>
              </a:ext>
            </a:extLst>
          </p:cNvPr>
          <p:cNvSpPr>
            <a:spLocks noGrp="1"/>
          </p:cNvSpPr>
          <p:nvPr>
            <p:ph type="title"/>
          </p:nvPr>
        </p:nvSpPr>
        <p:spPr/>
        <p:txBody>
          <a:bodyPr>
            <a:normAutofit/>
          </a:bodyPr>
          <a:lstStyle/>
          <a:p>
            <a:r>
              <a:rPr lang="en-IN" dirty="0">
                <a:latin typeface="Gill Sans MT" panose="020B0502020104020203" pitchFamily="34" charset="0"/>
              </a:rPr>
              <a:t>REFERENCES</a:t>
            </a:r>
          </a:p>
        </p:txBody>
      </p:sp>
      <p:sp>
        <p:nvSpPr>
          <p:cNvPr id="4" name="TextBox 3">
            <a:extLst>
              <a:ext uri="{FF2B5EF4-FFF2-40B4-BE49-F238E27FC236}">
                <a16:creationId xmlns:a16="http://schemas.microsoft.com/office/drawing/2014/main" id="{A3E66794-9631-DFCC-E5A3-7027907F5483}"/>
              </a:ext>
            </a:extLst>
          </p:cNvPr>
          <p:cNvSpPr txBox="1"/>
          <p:nvPr/>
        </p:nvSpPr>
        <p:spPr>
          <a:xfrm>
            <a:off x="3942080" y="4114800"/>
            <a:ext cx="6431280" cy="1747520"/>
          </a:xfrm>
          <a:prstGeom prst="rect">
            <a:avLst/>
          </a:prstGeom>
          <a:noFill/>
        </p:spPr>
        <p:txBody>
          <a:bodyPr wrap="square" rtlCol="0">
            <a:spAutoFit/>
          </a:bodyPr>
          <a:lstStyle/>
          <a:p>
            <a:endParaRPr lang="en-IN" dirty="0"/>
          </a:p>
        </p:txBody>
      </p:sp>
      <p:sp>
        <p:nvSpPr>
          <p:cNvPr id="24" name="Rectangle 20">
            <a:extLst>
              <a:ext uri="{FF2B5EF4-FFF2-40B4-BE49-F238E27FC236}">
                <a16:creationId xmlns:a16="http://schemas.microsoft.com/office/drawing/2014/main" id="{F9275CE3-F97E-A975-085C-73EF459DA86A}"/>
              </a:ext>
            </a:extLst>
          </p:cNvPr>
          <p:cNvSpPr>
            <a:spLocks noChangeArrowheads="1"/>
          </p:cNvSpPr>
          <p:nvPr/>
        </p:nvSpPr>
        <p:spPr bwMode="auto">
          <a:xfrm>
            <a:off x="3552496" y="720566"/>
            <a:ext cx="8082456"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0" u="none" strike="noStrike" cap="none" normalizeH="0" baseline="0" dirty="0" err="1">
                <a:ln>
                  <a:noFill/>
                </a:ln>
                <a:solidFill>
                  <a:schemeClr val="tx1"/>
                </a:solidFill>
                <a:effectLst/>
                <a:latin typeface="Arial" panose="020B0604020202020204" pitchFamily="34" charset="0"/>
              </a:rPr>
              <a:t>Alketbi</a:t>
            </a:r>
            <a:r>
              <a:rPr kumimoji="0" lang="en-US" altLang="en-US" sz="1600" i="0" u="none" strike="noStrike" cap="none" normalizeH="0" baseline="0" dirty="0">
                <a:ln>
                  <a:noFill/>
                </a:ln>
                <a:solidFill>
                  <a:schemeClr val="tx1"/>
                </a:solidFill>
                <a:effectLst/>
                <a:latin typeface="Arial" panose="020B0604020202020204" pitchFamily="34" charset="0"/>
              </a:rPr>
              <a:t>, K. S., &amp; Mehmood, A. (2025). </a:t>
            </a:r>
            <a:r>
              <a:rPr kumimoji="0" lang="en-US" altLang="en-US" sz="1600" i="1" u="none" strike="noStrike" cap="none" normalizeH="0" baseline="0" dirty="0">
                <a:ln>
                  <a:noFill/>
                </a:ln>
                <a:solidFill>
                  <a:schemeClr val="tx1"/>
                </a:solidFill>
                <a:effectLst/>
                <a:latin typeface="Arial" panose="020B0604020202020204" pitchFamily="34" charset="0"/>
              </a:rPr>
              <a:t>Explainable AI Techniques for Insider Threat Detection</a:t>
            </a:r>
            <a:r>
              <a:rPr kumimoji="0" lang="en-US" altLang="en-US" sz="1600" i="0" u="none" strike="noStrike" cap="none" normalizeH="0" baseline="0" dirty="0">
                <a:ln>
                  <a:noFill/>
                </a:ln>
                <a:solidFill>
                  <a:schemeClr val="tx1"/>
                </a:solidFill>
                <a:effectLst/>
                <a:latin typeface="Arial" panose="020B0604020202020204" pitchFamily="34" charset="0"/>
              </a:rPr>
              <a:t>. IEEE Access.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Al-</a:t>
            </a:r>
            <a:r>
              <a:rPr kumimoji="0" lang="en-US" altLang="en-US" sz="1600" i="0" u="none" strike="noStrike" cap="none" normalizeH="0" baseline="0" dirty="0" err="1">
                <a:ln>
                  <a:noFill/>
                </a:ln>
                <a:solidFill>
                  <a:schemeClr val="tx1"/>
                </a:solidFill>
                <a:effectLst/>
                <a:latin typeface="Arial" panose="020B0604020202020204" pitchFamily="34" charset="0"/>
              </a:rPr>
              <a:t>Shehari</a:t>
            </a:r>
            <a:r>
              <a:rPr kumimoji="0" lang="en-US" altLang="en-US" sz="1600" i="0" u="none" strike="noStrike" cap="none" normalizeH="0" baseline="0" dirty="0">
                <a:ln>
                  <a:noFill/>
                </a:ln>
                <a:solidFill>
                  <a:schemeClr val="tx1"/>
                </a:solidFill>
                <a:effectLst/>
                <a:latin typeface="Arial" panose="020B0604020202020204" pitchFamily="34" charset="0"/>
              </a:rPr>
              <a:t>, T., et al. (2023). </a:t>
            </a:r>
            <a:r>
              <a:rPr kumimoji="0" lang="en-US" altLang="en-US" sz="1600" i="1" u="none" strike="noStrike" cap="none" normalizeH="0" baseline="0" dirty="0">
                <a:ln>
                  <a:noFill/>
                </a:ln>
                <a:solidFill>
                  <a:schemeClr val="tx1"/>
                </a:solidFill>
                <a:effectLst/>
                <a:latin typeface="Arial" panose="020B0604020202020204" pitchFamily="34" charset="0"/>
              </a:rPr>
              <a:t>Insider Threat Detection Using Isolation Forest</a:t>
            </a:r>
            <a:r>
              <a:rPr kumimoji="0" lang="en-US" altLang="en-US" sz="1600" i="0" u="none" strike="noStrike" cap="none" normalizeH="0" baseline="0" dirty="0">
                <a:ln>
                  <a:noFill/>
                </a:ln>
                <a:solidFill>
                  <a:schemeClr val="tx1"/>
                </a:solidFill>
                <a:effectLst/>
                <a:latin typeface="Arial" panose="020B0604020202020204" pitchFamily="34" charset="0"/>
              </a:rPr>
              <a:t>. IEEE Access.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0" u="none" strike="noStrike" cap="none" normalizeH="0" baseline="0" dirty="0" err="1">
                <a:ln>
                  <a:noFill/>
                </a:ln>
                <a:solidFill>
                  <a:schemeClr val="tx1"/>
                </a:solidFill>
                <a:effectLst/>
                <a:latin typeface="Arial" panose="020B0604020202020204" pitchFamily="34" charset="0"/>
              </a:rPr>
              <a:t>Artioli</a:t>
            </a:r>
            <a:r>
              <a:rPr kumimoji="0" lang="en-US" altLang="en-US" sz="1600" i="0" u="none" strike="noStrike" cap="none" normalizeH="0" baseline="0" dirty="0">
                <a:ln>
                  <a:noFill/>
                </a:ln>
                <a:solidFill>
                  <a:schemeClr val="tx1"/>
                </a:solidFill>
                <a:effectLst/>
                <a:latin typeface="Arial" panose="020B0604020202020204" pitchFamily="34" charset="0"/>
              </a:rPr>
              <a:t>, P., et al. (2024). </a:t>
            </a:r>
            <a:r>
              <a:rPr kumimoji="0" lang="en-US" altLang="en-US" sz="1600" i="1" u="none" strike="noStrike" cap="none" normalizeH="0" baseline="0" dirty="0">
                <a:ln>
                  <a:noFill/>
                </a:ln>
                <a:solidFill>
                  <a:schemeClr val="tx1"/>
                </a:solidFill>
                <a:effectLst/>
                <a:latin typeface="Arial" panose="020B0604020202020204" pitchFamily="34" charset="0"/>
              </a:rPr>
              <a:t>Clustering Algorithms for User and Entity Behaviour Analytics</a:t>
            </a:r>
            <a:r>
              <a:rPr kumimoji="0" lang="en-US" altLang="en-US" sz="1600" i="0" u="none" strike="noStrike" cap="none" normalizeH="0" baseline="0" dirty="0">
                <a:ln>
                  <a:noFill/>
                </a:ln>
                <a:solidFill>
                  <a:schemeClr val="tx1"/>
                </a:solidFill>
                <a:effectLst/>
                <a:latin typeface="Arial" panose="020B0604020202020204" pitchFamily="34" charset="0"/>
              </a:rPr>
              <a:t>. Frontiers in Big Data.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Proactive Insider Threat Detection Framework</a:t>
            </a:r>
            <a:r>
              <a:rPr kumimoji="0" lang="en-US" altLang="en-US" sz="1600" i="0" u="none" strike="noStrike" cap="none" normalizeH="0" baseline="0" dirty="0">
                <a:ln>
                  <a:noFill/>
                </a:ln>
                <a:solidFill>
                  <a:schemeClr val="tx1"/>
                </a:solidFill>
                <a:effectLst/>
                <a:latin typeface="Arial" panose="020B0604020202020204" pitchFamily="34" charset="0"/>
              </a:rPr>
              <a:t>. Faith Journal.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Artificial Intelligence-Based Insider-Threat Detection</a:t>
            </a:r>
            <a:r>
              <a:rPr kumimoji="0" lang="en-US" altLang="en-US" sz="1600" i="0" u="none" strike="noStrike" cap="none" normalizeH="0" baseline="0" dirty="0">
                <a:ln>
                  <a:noFill/>
                </a:ln>
                <a:solidFill>
                  <a:schemeClr val="tx1"/>
                </a:solidFill>
                <a:effectLst/>
                <a:latin typeface="Arial" panose="020B0604020202020204" pitchFamily="34" charset="0"/>
              </a:rPr>
              <a:t>. Computers (MDPI), 2026.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Cybersecurity Threat Detection Based on a UEBA Framework Using Deep Autoencoders</a:t>
            </a:r>
            <a:r>
              <a:rPr kumimoji="0" lang="en-US" altLang="en-US" sz="1600" i="0" u="none" strike="noStrike" cap="none" normalizeH="0" baseline="0" dirty="0">
                <a:ln>
                  <a:noFill/>
                </a:ln>
                <a:solidFill>
                  <a:schemeClr val="tx1"/>
                </a:solidFill>
                <a:effectLst/>
                <a:latin typeface="Arial" panose="020B0604020202020204" pitchFamily="34" charset="0"/>
              </a:rPr>
              <a:t>. </a:t>
            </a:r>
            <a:r>
              <a:rPr kumimoji="0" lang="en-US" altLang="en-US" sz="1600" i="0" u="none" strike="noStrike" cap="none" normalizeH="0" baseline="0" dirty="0" err="1">
                <a:ln>
                  <a:noFill/>
                </a:ln>
                <a:solidFill>
                  <a:schemeClr val="tx1"/>
                </a:solidFill>
                <a:effectLst/>
                <a:latin typeface="Arial" panose="020B0604020202020204" pitchFamily="34" charset="0"/>
              </a:rPr>
              <a:t>arXiv</a:t>
            </a:r>
            <a:r>
              <a:rPr kumimoji="0" lang="en-US" altLang="en-US" sz="1600" i="0" u="none" strike="noStrike" cap="none" normalizeH="0" baseline="0" dirty="0">
                <a:ln>
                  <a:noFill/>
                </a:ln>
                <a:solidFill>
                  <a:schemeClr val="tx1"/>
                </a:solidFill>
                <a:effectLst/>
                <a:latin typeface="Arial" panose="020B0604020202020204" pitchFamily="34" charset="0"/>
              </a:rPr>
              <a:t>, 2025.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Explainable Bidirectional LSTM Autoencoder for Insider Threat Detection</a:t>
            </a:r>
            <a:r>
              <a:rPr kumimoji="0" lang="en-US" altLang="en-US" sz="1600" i="0" u="none" strike="noStrike" cap="none" normalizeH="0" baseline="0" dirty="0">
                <a:ln>
                  <a:noFill/>
                </a:ln>
                <a:solidFill>
                  <a:schemeClr val="tx1"/>
                </a:solidFill>
                <a:effectLst/>
                <a:latin typeface="Arial" panose="020B0604020202020204" pitchFamily="34" charset="0"/>
              </a:rPr>
              <a:t>. IEEE.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Attention-Driven Fusion of Sequential and Graph Neural Models for Insider Threat Detection</a:t>
            </a:r>
            <a:r>
              <a:rPr kumimoji="0" lang="en-US" altLang="en-US" sz="1600" i="0" u="none" strike="noStrike" cap="none" normalizeH="0" baseline="0" dirty="0">
                <a:ln>
                  <a:noFill/>
                </a:ln>
                <a:solidFill>
                  <a:schemeClr val="tx1"/>
                </a:solidFill>
                <a:effectLst/>
                <a:latin typeface="Arial" panose="020B0604020202020204" pitchFamily="34" charset="0"/>
              </a:rPr>
              <a:t>. Scientific Reports, 2026.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Insider Threat Mitigation: A Systematic Literature Review</a:t>
            </a:r>
            <a:r>
              <a:rPr kumimoji="0" lang="en-US" altLang="en-US" sz="1600" i="0" u="none" strike="noStrike" cap="none" normalizeH="0" baseline="0" dirty="0">
                <a:ln>
                  <a:noFill/>
                </a:ln>
                <a:solidFill>
                  <a:schemeClr val="tx1"/>
                </a:solidFill>
                <a:effectLst/>
                <a:latin typeface="Arial" panose="020B0604020202020204" pitchFamily="34" charset="0"/>
              </a:rPr>
              <a:t>. Computers &amp; Security. </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1600" i="1" u="none" strike="noStrike" cap="none" normalizeH="0" baseline="0" dirty="0">
                <a:ln>
                  <a:noFill/>
                </a:ln>
                <a:solidFill>
                  <a:schemeClr val="tx1"/>
                </a:solidFill>
                <a:effectLst/>
                <a:latin typeface="Arial" panose="020B0604020202020204" pitchFamily="34" charset="0"/>
              </a:rPr>
              <a:t>A Review of Insider Threat Detection: Classification, Machine Learning Techniques, Datasets, Open Challenges, and Recommendations</a:t>
            </a:r>
            <a:r>
              <a:rPr kumimoji="0" lang="en-US" altLang="en-US" sz="1600" i="0" u="none" strike="noStrike" cap="none" normalizeH="0" baseline="0" dirty="0">
                <a:ln>
                  <a:noFill/>
                </a:ln>
                <a:solidFill>
                  <a:schemeClr val="tx1"/>
                </a:solidFill>
                <a:effectLst/>
                <a:latin typeface="Arial" panose="020B0604020202020204" pitchFamily="34" charset="0"/>
              </a:rPr>
              <a:t>. Electronics (MDPI) </a:t>
            </a:r>
          </a:p>
        </p:txBody>
      </p:sp>
    </p:spTree>
    <p:extLst>
      <p:ext uri="{BB962C8B-B14F-4D97-AF65-F5344CB8AC3E}">
        <p14:creationId xmlns:p14="http://schemas.microsoft.com/office/powerpoint/2010/main" val="53888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40E6-0CC7-0B87-236C-DED62C375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3B919-9DB3-8AFC-1D7A-ABEB4B73F96F}"/>
              </a:ext>
            </a:extLst>
          </p:cNvPr>
          <p:cNvSpPr>
            <a:spLocks noGrp="1"/>
          </p:cNvSpPr>
          <p:nvPr>
            <p:ph type="title"/>
          </p:nvPr>
        </p:nvSpPr>
        <p:spPr>
          <a:xfrm>
            <a:off x="3682652" y="1826358"/>
            <a:ext cx="7478038" cy="3205283"/>
          </a:xfrm>
        </p:spPr>
        <p:txBody>
          <a:bodyPr>
            <a:normAutofit/>
          </a:bodyPr>
          <a:lstStyle/>
          <a:p>
            <a:r>
              <a:rPr lang="en-IN" sz="10000" dirty="0">
                <a:solidFill>
                  <a:schemeClr val="tx1"/>
                </a:solidFill>
                <a:latin typeface="Gill Sans MT" panose="020B0502020104020203" pitchFamily="34" charset="0"/>
              </a:rPr>
              <a:t>THANK YOU</a:t>
            </a:r>
          </a:p>
        </p:txBody>
      </p:sp>
    </p:spTree>
    <p:extLst>
      <p:ext uri="{BB962C8B-B14F-4D97-AF65-F5344CB8AC3E}">
        <p14:creationId xmlns:p14="http://schemas.microsoft.com/office/powerpoint/2010/main" val="243317567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732</TotalTime>
  <Words>649</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Corbel</vt:lpstr>
      <vt:lpstr>Gill Sans MT</vt:lpstr>
      <vt:lpstr>Wingdings 2</vt:lpstr>
      <vt:lpstr>Frame</vt:lpstr>
      <vt:lpstr>TRUSTSHIELD UEBA</vt:lpstr>
      <vt:lpstr>PROBLEM STATEMENT</vt:lpstr>
      <vt:lpstr>PROJECT GOAL</vt:lpstr>
      <vt:lpstr>PROBLEM MOTIVATION</vt:lpstr>
      <vt:lpstr>LITERATURE REVIEW</vt:lpstr>
      <vt:lpstr>PROPOSED SOLUTION</vt:lpstr>
      <vt:lpstr>ARCHITECTURE  DIAGRAM</vt:lpstr>
      <vt:lpstr>DATAFLOW DIAGRAM</vt:lpstr>
      <vt:lpstr>PowerPoint Presentation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TRUSTSHIELD UEBA</dc:title>
  <dc:creator>Moulya sri</dc:creator>
  <cp:lastModifiedBy>P TANVEE SATYA</cp:lastModifiedBy>
  <cp:revision>12</cp:revision>
  <dcterms:created xsi:type="dcterms:W3CDTF">2026-07-16T05:32:20Z</dcterms:created>
  <dcterms:modified xsi:type="dcterms:W3CDTF">2026-09-21T04:50:54Z</dcterms:modified>
</cp:coreProperties>
</file>